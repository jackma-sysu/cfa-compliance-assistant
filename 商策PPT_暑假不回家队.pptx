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 30 秒】语气自信平稳。报队名+题目，第一句点题：'我们把 CFA 道德准则，变成一线员工随开随用的合规 Agent。' 强调 'Agent' 这个主题关键词。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【45 秒】总纲页，三个亮点先亮出来，后面逐页展开。核心一句话：'我们的核心，是把合规从提建议变成替办事。'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【50 秒】故事性最强，讲生动。'我们做 230 道题时发现，错的不是背准则，是不知道怎么套场景——这背后是个真问题。' 把「备考点」升华为「行业痛点」，体现灵感真实接地气。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【50 秒】主动回应'切题吗'。'赛道给了场景、能力、标准三把尺子，我们用这三把尺子量自己，每一把都对得上。' 评委可能追问，提前背熟三层对应。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【45 秒】讲具体，让评委有画面感。'员工不是不想合规，是面对抽象准则，不知道该不该、向谁、披露什么。' 点出：'所以我们要做的不仅是提示，更是帮他办成。'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【45 秒】介绍产品形态，点到为止，细节留给演示页。'它长这样——一个随开随用的网页应用，手机电脑都能用，断网也能用。'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【60 秒】★核心页。'赛道要求 Agent 四大能力，我们一个不落——感知、决策、执行、优化，而且全部真实可运行，不是 PPT 概念。' 每个能力稍停，让评委看到对应关系。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【45 秒】讲价值升维。'关键在任务执行——一般的 AI 只给建议，我们的 Agent 替你把申报发出去、把审批做完、把留痕存下来。员工和合规部是两套独立视角，这就是多智能体协同。'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【50 秒】不讲技术名词，讲'为什么这么选'。'我们不裸用大模型，而是用 RAG 让每个结论有案例兜底；再加规则引擎，没网也能跑。都是冲着安全、可解释、可落地去的。'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【90 秒】★记忆点，全场最值得花时间。边操作边讲，放慢节奏。最后展示邮箱实时收到，强调'从识别到行动的完整闭环'。网络不稳立即切提前录好的视频。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【45 秒】用数据证明'做得出来、测得过'。'数据来源权威、处理规范，29 项测试全过，边界情况也不误报。'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【60 秒】★关键页，评委必问。'赛道提了五大挑战，我们不是回避，是每一个都有工程实现。' 逐条念，补一句'这些不是纸面承诺，是已经在系统里落地的东西'。和问答准备对好。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【50 秒】呼应'持续优化'。'我们经历了六次迭代：第四步加上任务执行，从工具变成 Agent；第六步上线合规审批，落地了多智能体协同。持续优化不是口号，是我们实际走过的路。'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【45 秒】展示想象空间。'它不止解决 CFA 合规，这套「规则驱动+案例约束+任务执行」的方法论，可复制到更广合规域，甚至投资和风控场景。'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【35 秒】简略带过，时间留给演示和挑战应对。'商业模式分三层，从免费引流到企业订阅和私有化部署。'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【40 秒】收尾三连：创新点→团队→感谢。'我们的创新在于，把 Agent 从机构级下沉到个人合规辅助，用规则驱动保证可解释，用离线架构保证可落地。以上是暑假不回家队的汇报，感谢评委，欢迎提问。' 说完原地等提问。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4572000"/>
            <a:ext cx="2926080" cy="25400"/>
          </a:xfrm>
          <a:prstGeom prst="rect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E1A33"/>
                </a:solidFill>
                <a:latin typeface="微软雅黑"/>
              </a:rPr>
              <a:t>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424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微软雅黑"/>
              </a:rPr>
              <a:t>合规智盾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6616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8C96A"/>
                </a:solidFill>
                <a:latin typeface="微软雅黑"/>
              </a:rPr>
              <a:t>基于 AI Agent 的金融合规智能自检与申报系统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0BED4"/>
                </a:solidFill>
                <a:latin typeface="微软雅黑"/>
              </a:rPr>
              <a:t>暑假不回家队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B0BED4"/>
                </a:solidFill>
                <a:latin typeface="微软雅黑"/>
              </a:rPr>
              <a:t>国元证券 · CFA 商业策划大赛 B 赛道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执行摘要：一句话 + 三个亮点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E1A33"/>
                </a:solidFill>
                <a:latin typeface="微软雅黑"/>
              </a:rPr>
              <a:t>员工用一句话描述行为 → Agent 自动识别准则、评估风险、执行申报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🎯 不是问答工具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而是能「执行任务」的 Agent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微软雅黑"/>
              </a:rPr>
              <a:t>从「提建议」升维到「替办事」，补齐合规最缺的行动闭环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📖 可解释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RAG 约束，每个结论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都有题库案例作依据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微软雅黑"/>
              </a:rPr>
              <a:t>不输出「黑箱」判断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 w="19050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🔒 可落地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离线优先 + 邮件触达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微软雅黑"/>
              </a:rPr>
              <a:t>数据不出本机，国内 SMTP 真实发信，29 项测试全过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灵感来源：从一道题想到一个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463040"/>
          </a:xfrm>
          <a:prstGeom prst="roundRect">
            <a:avLst/>
          </a:prstGeom>
          <a:solidFill>
            <a:srgbClr val="FBF6E8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1A33"/>
                </a:solidFill>
                <a:latin typeface="微软雅黑"/>
              </a:rPr>
              <a:t>备考 CFA 道德时的真实观察：</a:t>
            </a:r>
          </a:p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1A33"/>
                </a:solidFill>
                <a:latin typeface="微软雅黑"/>
              </a:rPr>
              <a:t>错题不在「记不住条文」，而在「具体场景如何对号入座」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4AF37"/>
                </a:solidFill>
                <a:latin typeface="微软雅黑"/>
              </a:rPr>
              <a:t>核心洞察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E1A33"/>
                </a:solidFill>
                <a:latin typeface="微软雅黑"/>
              </a:rPr>
              <a:t>道德合规的难点，从来不是「知识」，而是「判断」与「行动」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1064240" cy="16459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  <a:latin typeface="微软雅黑"/>
              </a:rPr>
              <a:t>结合大赛主题：AI 从「回答问题」跃迁为「执行任务」，恰好补上合规缺失的一环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于是：把 CFA 准则，变成一个能替你「做完该做的」的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切题程度：三层严格对应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① 场景对应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三大场景锁定「合规」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微软雅黑"/>
              </a:rPr>
              <a:t>规则解析 / 制度比对 / 异常识别 / 报告生成 —— 正是系统四大功能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② 能力对应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Agent 四大核心能力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微软雅黑"/>
              </a:rPr>
              <a:t>自主感知 / 分析决策 / 任务执行 / 持续优化 —— 逐条落地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 w="19050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③ 标准对应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方案四大标准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微软雅黑"/>
              </a:rPr>
              <a:t>准确性 / 可解释性 / 安全性 / 落地能力 —— 逐条满足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合规管理的三大痛点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DEFEB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判断门槛高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准则表述开放，一线员工判断因人、因时而异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披露义务易遗漏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不知道该不该披露、向谁披露、披露什么</a:t>
            </a:r>
          </a:p>
        </p:txBody>
      </p:sp>
      <p:sp>
        <p:nvSpPr>
          <p:cNvPr id="10" name="Oval 9"/>
          <p:cNvSpPr/>
          <p:nvPr/>
        </p:nvSpPr>
        <p:spPr>
          <a:xfrm>
            <a:off x="4434839" y="1554480"/>
            <a:ext cx="457200" cy="457200"/>
          </a:xfrm>
          <a:prstGeom prst="ellipse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1554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37160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申报与留痕割裂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传统工具只提示风险，不执行申报</a:t>
            </a:r>
          </a:p>
        </p:txBody>
      </p:sp>
      <p:sp>
        <p:nvSpPr>
          <p:cNvPr id="13" name="Oval 12"/>
          <p:cNvSpPr/>
          <p:nvPr/>
        </p:nvSpPr>
        <p:spPr>
          <a:xfrm>
            <a:off x="8183879" y="1554480"/>
            <a:ext cx="457200" cy="457200"/>
          </a:xfrm>
          <a:prstGeom prst="ellipse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554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11064240" cy="1463040"/>
          </a:xfrm>
          <a:prstGeom prst="roundRect">
            <a:avLst/>
          </a:prstGeom>
          <a:solidFill>
            <a:srgbClr val="E8EDF7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F2A44"/>
                </a:solidFill>
                <a:latin typeface="微软雅黑"/>
              </a:rPr>
              <a:t>数据佐证：230 题库中准则应用指南占 64.3%，错题集中在客户责任与雇主责任的案例辨析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1F2A44"/>
                </a:solidFill>
                <a:latin typeface="微软雅黑"/>
              </a:rPr>
              <a:t>结论：员工不是不想合规，而是缺少可执行的决策工具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方案概述：一个能「执行」的合规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377440" cy="2011680"/>
          </a:xfrm>
          <a:prstGeom prst="roundRect">
            <a:avLst/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3774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1A33"/>
                </a:solidFill>
                <a:latin typeface="微软雅黑"/>
              </a:rPr>
              <a:t>👤 员工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1A33"/>
                </a:solidFill>
                <a:latin typeface="微软雅黑"/>
              </a:rPr>
              <a:t>一句话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1A33"/>
                </a:solidFill>
                <a:latin typeface="微软雅黑"/>
              </a:rPr>
              <a:t>描述行为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737360"/>
            <a:ext cx="5303520" cy="201168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53035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🛡 合规智盾 Agent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识别准则 · 评估风险 · 执行申报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737360"/>
            <a:ext cx="2834640" cy="2011680"/>
          </a:xfrm>
          <a:prstGeom prst="roundRect">
            <a:avLst/>
          </a:prstGeom>
          <a:solidFill>
            <a:srgbClr val="E8F6F3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920240"/>
            <a:ext cx="28346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E1A33"/>
                </a:solidFill>
                <a:latin typeface="微软雅黑"/>
              </a:rPr>
              <a:t>✅ 输出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E1A33"/>
                </a:solidFill>
                <a:latin typeface="微软雅黑"/>
              </a:rPr>
              <a:t>风险+准则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E1A33"/>
                </a:solidFill>
                <a:latin typeface="微软雅黑"/>
              </a:rPr>
              <a:t>清单+申报单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71800" y="2468880"/>
            <a:ext cx="41148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503920" y="2468880"/>
            <a:ext cx="41148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4AF37"/>
                </a:solidFill>
                <a:latin typeface="微软雅黑"/>
              </a:rPr>
              <a:t>产品形态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  <a:latin typeface="微软雅黑"/>
              </a:rPr>
              <a:t>PWA 四视图（自检 / 准则速查 / 历史 / 合规部）+ 申报·自证·审批弹窗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  <a:latin typeface="微软雅黑"/>
              </a:rPr>
              <a:t>支持语音输入 · 口语转正式 · 离线可用 · 手机/电脑多端适配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Agent 四大核心能力 · 逐一落地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🔍 自主感知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  <a:latin typeface="微软雅黑"/>
              </a:rPr>
              <a:t>口语转正式 + 9类意图识别</a:t>
            </a:r>
            <a:br/>
            <a:r>
              <a:rPr sz="1400" b="0">
                <a:solidFill>
                  <a:srgbClr val="1F2A44"/>
                </a:solidFill>
                <a:latin typeface="微软雅黑"/>
              </a:rPr>
              <a:t>关键词+正则+语义三级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🧠 分析决策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  <a:latin typeface="微软雅黑"/>
              </a:rPr>
              <a:t>风险评级 + 22子条款</a:t>
            </a:r>
            <a:br/>
            <a:r>
              <a:rPr sz="1400" b="0">
                <a:solidFill>
                  <a:srgbClr val="1F2A44"/>
                </a:solidFill>
                <a:latin typeface="微软雅黑"/>
              </a:rPr>
              <a:t>+ RAG案例 + 行动强度分级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 w="19050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⚡ 任务执行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  <a:latin typeface="微软雅黑"/>
              </a:rPr>
              <a:t>申报+发邮件+审批+回执</a:t>
            </a:r>
            <a:br/>
            <a:r>
              <a:rPr sz="1400" b="0">
                <a:solidFill>
                  <a:srgbClr val="1F2A44"/>
                </a:solidFill>
                <a:latin typeface="微软雅黑"/>
              </a:rPr>
              <a:t>+自证(手写签名+电子印章)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DEFEB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🔄 持续优化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  <a:latin typeface="微软雅黑"/>
              </a:rPr>
              <a:t>增量知识库 + 缓存</a:t>
            </a:r>
            <a:br/>
            <a:r>
              <a:rPr sz="1400" b="0">
                <a:solidFill>
                  <a:srgbClr val="1F2A44"/>
                </a:solidFill>
                <a:latin typeface="微软雅黑"/>
              </a:rPr>
              <a:t>+ 留痕 + 合规小贴士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Agent 起到了什么作用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0E1A33"/>
                </a:solidFill>
                <a:latin typeface="微软雅黑"/>
              </a:rPr>
              <a:t>👤 对员工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从「凭感觉」到「有依据」</a:t>
            </a:r>
            <a:br/>
            <a:r>
              <a:rPr sz="1300" b="0">
                <a:solidFill>
                  <a:srgbClr val="1F2A44"/>
                </a:solidFill>
                <a:latin typeface="微软雅黑"/>
              </a:rPr>
              <a:t>口语转正式+申报+自证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0E1A33"/>
                </a:solidFill>
                <a:latin typeface="微软雅黑"/>
              </a:rPr>
              <a:t>🏛 对合规部门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从「被动审查」到「签名审批」</a:t>
            </a:r>
            <a:br/>
            <a:r>
              <a:rPr sz="1300" b="0">
                <a:solidFill>
                  <a:srgbClr val="1F2A44"/>
                </a:solidFill>
                <a:latin typeface="微软雅黑"/>
              </a:rPr>
              <a:t>独立审查视角+回执留痕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 w="19050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0E1A33"/>
                </a:solidFill>
                <a:latin typeface="微软雅黑"/>
              </a:rPr>
              <a:t>🏢 对机构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合规知识沉淀统一底座</a:t>
            </a:r>
            <a:br/>
            <a:r>
              <a:rPr sz="1300" b="0">
                <a:solidFill>
                  <a:srgbClr val="1F2A44"/>
                </a:solidFill>
                <a:latin typeface="微软雅黑"/>
              </a:rPr>
              <a:t>降本增效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DEFEB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0E1A33"/>
                </a:solidFill>
                <a:latin typeface="微软雅黑"/>
              </a:rPr>
              <a:t>🌐 对行业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证明「规则驱动+案例约束</a:t>
            </a:r>
            <a:br/>
            <a:r>
              <a:rPr sz="1300" b="0">
                <a:solidFill>
                  <a:srgbClr val="1F2A44"/>
                </a:solidFill>
                <a:latin typeface="微软雅黑"/>
              </a:rPr>
              <a:t>+任务执行」范式可行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技术架构：RAG 约束，结论有据可依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011680" cy="91440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输入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14600" y="2057400"/>
            <a:ext cx="22860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2011680" cy="91440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82880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意图分类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00600" y="2057400"/>
            <a:ext cx="22860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828800"/>
            <a:ext cx="2011680" cy="91440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向量检索 Top-5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86600" y="2057400"/>
            <a:ext cx="22860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1828800"/>
            <a:ext cx="2011680" cy="91440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82880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结构化输出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72600" y="2057400"/>
            <a:ext cx="22860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0" y="1828800"/>
            <a:ext cx="2011680" cy="91440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82880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1A33"/>
                </a:solidFill>
                <a:latin typeface="微软雅黑"/>
              </a:rPr>
              <a:t>任务执行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4AF37"/>
                </a:solidFill>
                <a:latin typeface="微软雅黑"/>
              </a:rPr>
              <a:t>三大关键决策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1188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RAG 约束而非裸 LLM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案例为依据，抑制幻觉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61188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规则引擎兜底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没网、没 API 也能用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361188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离线优先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数据不出本机，安全可落地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技术栈：FastAPI + ChromaDB + RAG + PWA + SMTP（QQ 邮箱）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现场演示：从识别到邮件触达的闭环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0E1A33"/>
                </a:solidFill>
                <a:latin typeface="微软雅黑"/>
              </a:rPr>
              <a:t>输入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44752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A44"/>
                </a:solidFill>
                <a:latin typeface="微软雅黑"/>
              </a:rPr>
              <a:t>客户送我去打高尔夫，还承担我出差的机票和酒店费用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444752"/>
            <a:ext cx="502920" cy="502920"/>
          </a:xfrm>
          <a:prstGeom prst="ellipse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12848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0E1A33"/>
                </a:solidFill>
                <a:latin typeface="微软雅黑"/>
              </a:rPr>
              <a:t>① 拦截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377440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A44"/>
                </a:solidFill>
                <a:latin typeface="微软雅黑"/>
              </a:rPr>
              <a:t>高风险判定 + 红色风险拦截 + 准则 I(B)/IV(B)/VI(A)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377440"/>
            <a:ext cx="502920" cy="502920"/>
          </a:xfrm>
          <a:prstGeom prst="ellipse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45536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0E1A33"/>
                </a:solidFill>
                <a:latin typeface="微软雅黑"/>
              </a:rPr>
              <a:t>② 引用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310128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A44"/>
                </a:solidFill>
                <a:latin typeface="微软雅黑"/>
              </a:rPr>
              <a:t>引用题库案例 M3-Q30 会议差旅招待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310128"/>
            <a:ext cx="502920" cy="502920"/>
          </a:xfrm>
          <a:prstGeom prst="ellipse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101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78224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0E1A33"/>
                </a:solidFill>
                <a:latin typeface="微软雅黑"/>
              </a:rPr>
              <a:t>③ 申报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242816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A44"/>
                </a:solidFill>
                <a:latin typeface="微软雅黑"/>
              </a:rPr>
              <a:t>生成带唯一编号的申报单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242816"/>
            <a:ext cx="502920" cy="502920"/>
          </a:xfrm>
          <a:prstGeom prst="ellipse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4281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10912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0E1A33"/>
                </a:solidFill>
                <a:latin typeface="微软雅黑"/>
              </a:rPr>
              <a:t>④ 触达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175504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A44"/>
                </a:solidFill>
                <a:latin typeface="微软雅黑"/>
              </a:rPr>
              <a:t>一键发送邮件 → 合规部门邮箱实时收到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5175504"/>
            <a:ext cx="502920" cy="502920"/>
          </a:xfrm>
          <a:prstGeom prst="ellipse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7550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数据基础与实证结果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057400" cy="173736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8C96A"/>
                </a:solidFill>
                <a:latin typeface="微软雅黑"/>
              </a:rPr>
              <a:t>230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</a:rPr>
              <a:t>道题库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554480"/>
            <a:ext cx="2057400" cy="173736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691640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8C96A"/>
                </a:solidFill>
                <a:latin typeface="微软雅黑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6060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</a:rPr>
              <a:t>子条款全覆盖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554480"/>
            <a:ext cx="2057400" cy="173736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691640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8C96A"/>
                </a:solidFill>
                <a:latin typeface="微软雅黑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6060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</a:rPr>
              <a:t>类行为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554480"/>
            <a:ext cx="2057400" cy="173736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691640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8C96A"/>
                </a:solidFill>
                <a:latin typeface="微软雅黑"/>
              </a:rPr>
              <a:t>161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6060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</a:rPr>
              <a:t>合规案例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554480"/>
            <a:ext cx="2057400" cy="173736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1691640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8C96A"/>
                </a:solidFill>
                <a:latin typeface="微软雅黑"/>
              </a:rPr>
              <a:t>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6060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项测试全过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4AF37"/>
                </a:solidFill>
                <a:latin typeface="微软雅黑"/>
              </a:rPr>
              <a:t>实证验证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148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收礼招待 → I(B)/IV(B)/VI(A)，引用 M3-Q30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41148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额外报酬 → IV(B)/VI(C)，引用 M3-Q12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41148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  <a:latin typeface="微软雅黑"/>
              </a:rPr>
              <a:t>无关输入 → 正确返回 uncertain，不误报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五大挑战 · 逐一工程化应对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840480" cy="841248"/>
          </a:xfrm>
          <a:prstGeom prst="roundRect">
            <a:avLst>
              <a:gd name="adj" fmla="val 8000"/>
            </a:avLst>
          </a:prstGeom>
          <a:solidFill>
            <a:srgbClr val="FDEFEB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⚔ 模型幻觉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80560" y="1472184"/>
            <a:ext cx="502920" cy="45720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280160"/>
            <a:ext cx="649224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  <a:latin typeface="微软雅黑"/>
              </a:rPr>
              <a:t>RAG 约束 + 温度 0.3 + 规则引擎兜底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3840480" cy="841248"/>
          </a:xfrm>
          <a:prstGeom prst="roundRect">
            <a:avLst>
              <a:gd name="adj" fmla="val 8000"/>
            </a:avLst>
          </a:prstGeom>
          <a:solidFill>
            <a:srgbClr val="FDEFEB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⚔ 数据安全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480560" y="2432304"/>
            <a:ext cx="502920" cy="45720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2240280"/>
            <a:ext cx="649224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  <a:latin typeface="微软雅黑"/>
              </a:rPr>
              <a:t>离线优先，数据不出本机 + 私有化部署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3840480" cy="841248"/>
          </a:xfrm>
          <a:prstGeom prst="roundRect">
            <a:avLst>
              <a:gd name="adj" fmla="val 8000"/>
            </a:avLst>
          </a:prstGeom>
          <a:solidFill>
            <a:srgbClr val="FDEFEB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⚔ 可解释性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80560" y="3392424"/>
            <a:ext cx="502920" cy="45720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3200400"/>
            <a:ext cx="649224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  <a:latin typeface="微软雅黑"/>
              </a:rPr>
              <a:t>每个结论附带准则条款与题库案例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60520"/>
            <a:ext cx="3840480" cy="841248"/>
          </a:xfrm>
          <a:prstGeom prst="roundRect">
            <a:avLst>
              <a:gd name="adj" fmla="val 8000"/>
            </a:avLst>
          </a:prstGeom>
          <a:solidFill>
            <a:srgbClr val="FDEFEB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⚔ 权限管理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480560" y="4352544"/>
            <a:ext cx="502920" cy="45720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4160520"/>
            <a:ext cx="649224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  <a:latin typeface="微软雅黑"/>
              </a:rPr>
              <a:t>员工提交→合规签名审批→回执留痕，二次确认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3840480" cy="841248"/>
          </a:xfrm>
          <a:prstGeom prst="roundRect">
            <a:avLst>
              <a:gd name="adj" fmla="val 8000"/>
            </a:avLst>
          </a:prstGeom>
          <a:solidFill>
            <a:srgbClr val="FDEFEB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⚔ 责任边界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480560" y="5312664"/>
            <a:ext cx="502920" cy="45720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640" y="5120640"/>
            <a:ext cx="6492240" cy="84124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  <a:latin typeface="微软雅黑"/>
              </a:rPr>
              <a:t>辅助决策定位，高风险强制人工确认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改进过程：从工具到 Agent 的六次迭代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8EDF7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0E1A33"/>
                </a:solidFill>
                <a:latin typeface="微软雅黑"/>
              </a:rPr>
              <a:t>① 数据筑基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230 题结构化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481328"/>
            <a:ext cx="457200" cy="457200"/>
          </a:xfrm>
          <a:prstGeom prst="ellipse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8EDF7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0E1A33"/>
                </a:solidFill>
                <a:latin typeface="微软雅黑"/>
              </a:rPr>
              <a:t>② 感知决策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9类分类+评级</a:t>
            </a:r>
          </a:p>
        </p:txBody>
      </p:sp>
      <p:sp>
        <p:nvSpPr>
          <p:cNvPr id="10" name="Oval 9"/>
          <p:cNvSpPr/>
          <p:nvPr/>
        </p:nvSpPr>
        <p:spPr>
          <a:xfrm>
            <a:off x="4453128" y="1481328"/>
            <a:ext cx="457200" cy="457200"/>
          </a:xfrm>
          <a:prstGeom prst="ellipse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4813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8EDF7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0E1A33"/>
                </a:solidFill>
                <a:latin typeface="微软雅黑"/>
              </a:rPr>
              <a:t>③ 可解释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RAG 案例检索</a:t>
            </a:r>
          </a:p>
        </p:txBody>
      </p:sp>
      <p:sp>
        <p:nvSpPr>
          <p:cNvPr id="13" name="Oval 12"/>
          <p:cNvSpPr/>
          <p:nvPr/>
        </p:nvSpPr>
        <p:spPr>
          <a:xfrm>
            <a:off x="8247888" y="1481328"/>
            <a:ext cx="457200" cy="457200"/>
          </a:xfrm>
          <a:prstGeom prst="ellipse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4813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 w="19050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0E1A33"/>
                </a:solidFill>
                <a:latin typeface="微软雅黑"/>
              </a:rPr>
              <a:t>④ 关键跃迁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任务执行→Agent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584448"/>
            <a:ext cx="457200" cy="45720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5844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747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8EDF7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0E1A33"/>
                </a:solidFill>
                <a:latin typeface="微软雅黑"/>
              </a:rPr>
              <a:t>⑤ 完善闭环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拦截+自证+转写</a:t>
            </a:r>
          </a:p>
        </p:txBody>
      </p:sp>
      <p:sp>
        <p:nvSpPr>
          <p:cNvPr id="19" name="Oval 18"/>
          <p:cNvSpPr/>
          <p:nvPr/>
        </p:nvSpPr>
        <p:spPr>
          <a:xfrm>
            <a:off x="4453128" y="3584448"/>
            <a:ext cx="457200" cy="457200"/>
          </a:xfrm>
          <a:prstGeom prst="ellipse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35844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4747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8EDF7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0E1A33"/>
                </a:solidFill>
                <a:latin typeface="微软雅黑"/>
              </a:rPr>
              <a:t>⑥ 多智能体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合规审批+回执</a:t>
            </a:r>
          </a:p>
        </p:txBody>
      </p:sp>
      <p:sp>
        <p:nvSpPr>
          <p:cNvPr id="22" name="Oval 21"/>
          <p:cNvSpPr/>
          <p:nvPr/>
        </p:nvSpPr>
        <p:spPr>
          <a:xfrm>
            <a:off x="8247888" y="3584448"/>
            <a:ext cx="457200" cy="457200"/>
          </a:xfrm>
          <a:prstGeom prst="ellipse">
            <a:avLst/>
          </a:prstGeom>
          <a:solidFill>
            <a:srgbClr val="1F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5844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A33"/>
                </a:solidFill>
                <a:latin typeface="微软雅黑"/>
              </a:rPr>
              <a:t>第 ④ 步是质变（工具→Agent），第 ⑥ 步落地多智能体协同（审查 Agent）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使用价值与可推广性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4AF37"/>
                </a:solidFill>
                <a:latin typeface="微软雅黑"/>
              </a:rPr>
              <a:t>使用价值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员工降风险 · 合规部降成本 · 机构建文化 —— 从「事后追责」转向「事前自检」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4AF37"/>
                </a:solidFill>
                <a:latin typeface="微软雅黑"/>
              </a:rPr>
              <a:t>可推广性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0E1A33"/>
                </a:solidFill>
                <a:latin typeface="微软雅黑"/>
              </a:rPr>
              <a:t>横向：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76472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A44"/>
                </a:solidFill>
                <a:latin typeface="微软雅黑"/>
              </a:rPr>
              <a:t>CFA 准则 → 软美元/GIPS/反洗钱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118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0E1A33"/>
                </a:solidFill>
                <a:latin typeface="微软雅黑"/>
              </a:rPr>
              <a:t>纵向：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776472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A44"/>
                </a:solidFill>
                <a:latin typeface="微软雅黑"/>
              </a:rPr>
              <a:t>同一架构复用于投资、风控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834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0E1A33"/>
                </a:solidFill>
                <a:latin typeface="微软雅黑"/>
              </a:rPr>
              <a:t>多智能体：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148072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A44"/>
                </a:solidFill>
                <a:latin typeface="微软雅黑"/>
              </a:rPr>
              <a:t>自检/申报/审查/审计协同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9834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0E1A33"/>
                </a:solidFill>
                <a:latin typeface="微软雅黑"/>
              </a:rPr>
              <a:t>跨行业：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148072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A44"/>
                </a:solidFill>
                <a:latin typeface="微软雅黑"/>
              </a:rPr>
              <a:t>医药/法律/证券强监管复用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商业模式与落地路径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个人版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本地离线自检 · 免费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4630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团队版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内网部署/审计/批量 · 订阅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4630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BF6E8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0E1A33"/>
                </a:solidFill>
                <a:latin typeface="微软雅黑"/>
              </a:rPr>
              <a:t>定制版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接入机构规则 · 项目制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4AF37"/>
                </a:solidFill>
                <a:latin typeface="微软雅黑"/>
              </a:rPr>
              <a:t>四阶段落地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60520"/>
            <a:ext cx="2560320" cy="73152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MVP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1679022040" y="4343400"/>
            <a:ext cx="228600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4160520"/>
            <a:ext cx="2560320" cy="73152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16052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机构试点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93673838040" y="4343400"/>
            <a:ext cx="228600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4160520"/>
            <a:ext cx="2560320" cy="73152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16052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扩域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85668654040" y="4343400"/>
            <a:ext cx="228600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4160520"/>
            <a:ext cx="2560320" cy="731520"/>
          </a:xfrm>
          <a:prstGeom prst="round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416052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规模化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收入来源：企业订阅 + 私有化授权 + 内容授权 + 培训增值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4AF37"/>
                </a:solidFill>
                <a:latin typeface="微软雅黑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微软雅黑"/>
              </a:rPr>
              <a:t>创新点 · 团队 · 感谢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4AF37"/>
                </a:solidFill>
                <a:latin typeface="微软雅黑"/>
              </a:rPr>
              <a:t>三大创新点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Agent 范式下沉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微软雅黑"/>
              </a:rPr>
              <a:t>从机构级下沉到个人合规行为辅助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3736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规则驱动可解释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微软雅黑"/>
              </a:rPr>
              <a:t>案例引用，结论有据可依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73736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E1A33"/>
                </a:solidFill>
                <a:latin typeface="微软雅黑"/>
              </a:rPr>
              <a:t>离线优先可落地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微软雅黑"/>
              </a:rPr>
              <a:t>数据不出本机，真正可部署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4AF37"/>
                </a:solidFill>
                <a:latin typeface="微软雅黑"/>
              </a:rPr>
              <a:t>团队分工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E8EDF7"/>
          </a:solidFill>
          <a:ln w="19050">
            <a:solidFill>
              <a:srgbClr val="1F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0E1A33"/>
                </a:solidFill>
                <a:latin typeface="微软雅黑"/>
              </a:rPr>
              <a:t>韩天翼（队长）：统筹+架构+核心研发 ｜ 彭德东：数据+调研 ｜ 禹夏航：测试+展示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E1A33"/>
                </a:solidFill>
                <a:latin typeface="微软雅黑"/>
              </a:rPr>
              <a:t>感谢各位评委老师，欢迎提问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